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hYX9G9qz8vswpoKkkNBl4XDlJU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31ba89e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231ba89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31ba89ec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231ba89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47ea3158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47ea315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dc77e48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5dc77e4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5dc77e481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85dc77e4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31ba89ec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a231ba89e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231ba89ec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a231ba89e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6c58555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a96c5855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.jp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3.jpg"/><Relationship Id="rId6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7.png"/><Relationship Id="rId5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hyperlink" Target="http://micolegio-ejajcpcab8apg8dt.eastus2-01.azurewebsites.net" TargetMode="External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spreadsheets/d/1Ruk1nudZnSylFxwJLQAZkLodSIxFRNzq/edit?gid=1155644052#gid=1155644052" TargetMode="External"/><Relationship Id="rId10" Type="http://schemas.openxmlformats.org/officeDocument/2006/relationships/hyperlink" Target="https://docs.google.com/document/d/1hw_3d0sa9zILnZokccJKB3iHhsEVALAz/edit?usp=drive_web&amp;ouid=108317890879258060188&amp;rtpof=true" TargetMode="External"/><Relationship Id="rId13" Type="http://schemas.openxmlformats.org/officeDocument/2006/relationships/hyperlink" Target="https://docs.google.com/document/d/15qo3pw_959Cl0hmP1znlMVEyiPOwDeAO/edit" TargetMode="External"/><Relationship Id="rId12" Type="http://schemas.openxmlformats.org/officeDocument/2006/relationships/hyperlink" Target="https://docs.google.com/document/d/1HcAleBisTrE0KcK2N1FjSBQvXtUWXV16/edit?usp=drive_web&amp;ouid=108317890879258060188&amp;rtpof=tru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9" Type="http://schemas.openxmlformats.org/officeDocument/2006/relationships/hyperlink" Target="https://docs.google.com/document/d/14xe5vcRJWOvqGj9dppdgOIXHZXUb0X2J/edit?usp=drive_web&amp;ouid=108317890879258060188&amp;rtpof=true" TargetMode="External"/><Relationship Id="rId15" Type="http://schemas.openxmlformats.org/officeDocument/2006/relationships/hyperlink" Target="https://docs.google.com/spreadsheets/d/1kgBKmmb5Ct8Hv9RCKNxh3XETWUKaqfzi/edit?gid=1694144907#gid=1694144907" TargetMode="External"/><Relationship Id="rId14" Type="http://schemas.openxmlformats.org/officeDocument/2006/relationships/hyperlink" Target="https://docs.google.com/document/d/1amSlOYjI_r6JE3p2evZKqemComWSWWqq/edit?usp=drive_web&amp;ouid=108317890879258060188&amp;rtpof=true" TargetMode="External"/><Relationship Id="rId17" Type="http://schemas.openxmlformats.org/officeDocument/2006/relationships/hyperlink" Target="https://docs.google.com/document/d/1fnScmbQay2m-BzSFN2_HUeQbJypo9BiV/edit" TargetMode="External"/><Relationship Id="rId16" Type="http://schemas.openxmlformats.org/officeDocument/2006/relationships/hyperlink" Target="https://docs.google.com/spreadsheets/d/1kgBKmmb5Ct8Hv9RCKNxh3XETWUKaqfzi/edit?gid=1694144907#gid=1694144907" TargetMode="External"/><Relationship Id="rId5" Type="http://schemas.openxmlformats.org/officeDocument/2006/relationships/hyperlink" Target="https://docs.google.com/spreadsheets/d/1iZ32L-TErgwv5miKQdpUL0Pu_o7afkoZ/edit?gid=1748273957#gid=1748273957" TargetMode="External"/><Relationship Id="rId19" Type="http://schemas.openxmlformats.org/officeDocument/2006/relationships/hyperlink" Target="https://github.com/Igte312/CAPSTONE_002V_GRUPO_1" TargetMode="External"/><Relationship Id="rId6" Type="http://schemas.openxmlformats.org/officeDocument/2006/relationships/hyperlink" Target="https://docs.google.com/spreadsheets/d/1YVr6OBUkODsY0_xxOgApMAQ4QYuZ4bba/edit?gid=1792036597#gid=1792036597" TargetMode="External"/><Relationship Id="rId18" Type="http://schemas.openxmlformats.org/officeDocument/2006/relationships/hyperlink" Target="https://duocuc-team-rz8lvdlv.atlassian.net/jira/software/projects/SCRUM/boards/1/backlog" TargetMode="External"/><Relationship Id="rId7" Type="http://schemas.openxmlformats.org/officeDocument/2006/relationships/hyperlink" Target="https://docs.google.com/document/d/1SHzrFnPMIdnxuTvELquURL4yIRkbsWyZ/edit" TargetMode="External"/><Relationship Id="rId8" Type="http://schemas.openxmlformats.org/officeDocument/2006/relationships/hyperlink" Target="https://docs.google.com/document/d/14xe5vcRJWOvqGj9dppdgOIXHZXUb0X2J/edit?usp=drive_web&amp;ouid=108317890879258060188&amp;rtpof=tru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727325" y="1908825"/>
            <a:ext cx="81591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73763"/>
                </a:solidFill>
                <a:latin typeface="Maven Pro"/>
                <a:ea typeface="Maven Pro"/>
                <a:cs typeface="Maven Pro"/>
                <a:sym typeface="Maven Pro"/>
              </a:rPr>
              <a:t>Presentación Proyecto Mi Colegio</a:t>
            </a:r>
            <a:endParaRPr b="1" i="0" sz="3600" u="none" cap="none" strike="noStrike">
              <a:solidFill>
                <a:srgbClr val="07376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93250" y="3916975"/>
            <a:ext cx="2938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Alumnos:</a:t>
            </a:r>
            <a:endParaRPr b="0" i="0" sz="1600" u="none" cap="none" strike="noStrike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José Ignacio López</a:t>
            </a:r>
            <a:endParaRPr b="0" i="0" sz="1600" u="none" cap="none" strike="noStrike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Patricio Aranda</a:t>
            </a:r>
            <a:endParaRPr b="0" i="0" sz="1600" u="none" cap="none" strike="noStrike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Alexis Osorio</a:t>
            </a:r>
            <a:endParaRPr b="0" i="0" sz="1600" u="none" cap="none" strike="noStrike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025300" y="1126625"/>
            <a:ext cx="50934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73763"/>
                </a:solidFill>
                <a:latin typeface="Maven Pro"/>
                <a:ea typeface="Maven Pro"/>
                <a:cs typeface="Maven Pro"/>
                <a:sym typeface="Maven Pro"/>
              </a:rPr>
              <a:t>Asignatura CAPSTONE</a:t>
            </a:r>
            <a:endParaRPr b="1" i="0" sz="3600" u="none" cap="none" strike="noStrike">
              <a:solidFill>
                <a:srgbClr val="07376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7" name="Google Shape;57;p1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231ba89ec_0_7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 rot="1393344">
            <a:off x="3877591" y="269843"/>
            <a:ext cx="4486626" cy="460381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a231ba89ec_0_7"/>
          <p:cNvSpPr txBox="1"/>
          <p:nvPr/>
        </p:nvSpPr>
        <p:spPr>
          <a:xfrm>
            <a:off x="63300" y="2559000"/>
            <a:ext cx="34485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Listas de útiles en papel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" name="Google Shape;64;g3a231ba89ec_0_7"/>
          <p:cNvSpPr txBox="1"/>
          <p:nvPr/>
        </p:nvSpPr>
        <p:spPr>
          <a:xfrm>
            <a:off x="63300" y="3285700"/>
            <a:ext cx="3782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Búsqueda</a:t>
            </a: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 engorrosa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5" name="Google Shape;65;g3a231ba89ec_0_7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3320474" y="-701200"/>
            <a:ext cx="5769650" cy="71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231ba89ec_0_7"/>
          <p:cNvSpPr txBox="1"/>
          <p:nvPr/>
        </p:nvSpPr>
        <p:spPr>
          <a:xfrm>
            <a:off x="63300" y="1832300"/>
            <a:ext cx="3782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Procesos Manuales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7" name="Google Shape;67;g3a231ba89ec_0_7" title="download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4588" y="158917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a231ba89ec_0_7"/>
          <p:cNvSpPr txBox="1"/>
          <p:nvPr/>
        </p:nvSpPr>
        <p:spPr>
          <a:xfrm>
            <a:off x="0" y="255250"/>
            <a:ext cx="58191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Descripción Proyecto APT Mi Colegio, y relevancia en el campo laboral de la carrera.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/>
        </p:nvSpPr>
        <p:spPr>
          <a:xfrm>
            <a:off x="114100" y="-85775"/>
            <a:ext cx="5791675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Propuestas a las Problemáticas</a:t>
            </a: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4" name="Google Shape;74;p3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 title="PGB_1-2.png"/>
          <p:cNvPicPr preferRelativeResize="0"/>
          <p:nvPr/>
        </p:nvPicPr>
        <p:blipFill rotWithShape="1">
          <a:blip r:embed="rId4">
            <a:alphaModFix amt="60000"/>
          </a:blip>
          <a:srcRect b="0" l="9348" r="9356" t="0"/>
          <a:stretch/>
        </p:blipFill>
        <p:spPr>
          <a:xfrm>
            <a:off x="5033900" y="846401"/>
            <a:ext cx="6550174" cy="42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329675" y="1856700"/>
            <a:ext cx="3782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Automatizar Procesos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329675" y="3132225"/>
            <a:ext cx="49929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Digitalizar la comunicación de una forma rápida e inteligente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/>
        </p:nvSpPr>
        <p:spPr>
          <a:xfrm>
            <a:off x="406925" y="499398"/>
            <a:ext cx="66963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Objetivos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3" name="Google Shape;83;p2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4588" y="158917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393344">
            <a:off x="288541" y="269843"/>
            <a:ext cx="4486626" cy="460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7250" y="1757925"/>
            <a:ext cx="1422373" cy="61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1214825" y="1677225"/>
            <a:ext cx="50805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Desarrollar una solución para resolver el problema de las personas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1214825" y="2749250"/>
            <a:ext cx="50805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Usar Tecnología y prácticas vanguardistas 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214825" y="3821275"/>
            <a:ext cx="50805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Responder las grandes preguntas de la ingeniería</a:t>
            </a: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9" name="Google Shape;89;p2" title="downloa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7074" y="2989212"/>
            <a:ext cx="359225" cy="359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title="downloa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09850" y="2945404"/>
            <a:ext cx="474750" cy="44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title="download.png"/>
          <p:cNvPicPr preferRelativeResize="0"/>
          <p:nvPr/>
        </p:nvPicPr>
        <p:blipFill rotWithShape="1">
          <a:blip r:embed="rId8">
            <a:alphaModFix/>
          </a:blip>
          <a:srcRect b="23790" l="9844" r="59128" t="17219"/>
          <a:stretch/>
        </p:blipFill>
        <p:spPr>
          <a:xfrm>
            <a:off x="6746300" y="2966088"/>
            <a:ext cx="404250" cy="4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900" y="849600"/>
            <a:ext cx="5651626" cy="438837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5952225" y="1526675"/>
            <a:ext cx="2790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¿Cuánto Cuesta?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952225" y="2603325"/>
            <a:ext cx="29514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¿Cuánto </a:t>
            </a: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tiempo</a:t>
            </a: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952226" y="3496325"/>
            <a:ext cx="30408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¿Valor entregado?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14100" y="-8577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Metodología</a:t>
            </a: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y Técnicas de Vanguardia</a:t>
            </a: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1" name="Google Shape;101;p4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500121">
            <a:off x="3596219" y="680402"/>
            <a:ext cx="5766053" cy="378269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14099" y="1185168"/>
            <a:ext cx="18945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325" y="1639725"/>
            <a:ext cx="8786776" cy="30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title="image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4773" y="872710"/>
            <a:ext cx="2473335" cy="1209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800000" dist="114300">
              <a:srgbClr val="D9D9D9">
                <a:alpha val="8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31ba89ec_0_42"/>
          <p:cNvSpPr txBox="1"/>
          <p:nvPr/>
        </p:nvSpPr>
        <p:spPr>
          <a:xfrm>
            <a:off x="114100" y="-8577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Metodología</a:t>
            </a: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y Técnicas de Vanguardia</a:t>
            </a: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1" name="Google Shape;111;g3a231ba89ec_0_42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a231ba89ec_0_4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500121">
            <a:off x="-774131" y="1193127"/>
            <a:ext cx="5766053" cy="37826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a231ba89ec_0_42"/>
          <p:cNvSpPr/>
          <p:nvPr/>
        </p:nvSpPr>
        <p:spPr>
          <a:xfrm>
            <a:off x="114099" y="1185168"/>
            <a:ext cx="1894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a&#10;&#10;El contenido generado por IA puede ser incorrecto." id="114" name="Google Shape;114;g3a231ba89ec_0_42"/>
          <p:cNvPicPr preferRelativeResize="0"/>
          <p:nvPr/>
        </p:nvPicPr>
        <p:blipFill rotWithShape="1">
          <a:blip r:embed="rId5">
            <a:alphaModFix/>
          </a:blip>
          <a:srcRect b="0" l="0" r="42119" t="0"/>
          <a:stretch/>
        </p:blipFill>
        <p:spPr>
          <a:xfrm>
            <a:off x="889900" y="1330625"/>
            <a:ext cx="6719549" cy="35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a231ba89ec_0_42" title="curso-online-de-introduccion-a-microsoft-azure.jpg"/>
          <p:cNvPicPr preferRelativeResize="0"/>
          <p:nvPr/>
        </p:nvPicPr>
        <p:blipFill rotWithShape="1">
          <a:blip r:embed="rId6">
            <a:alphaModFix/>
          </a:blip>
          <a:srcRect b="0" l="2393" r="5905" t="0"/>
          <a:stretch/>
        </p:blipFill>
        <p:spPr>
          <a:xfrm>
            <a:off x="5859700" y="952200"/>
            <a:ext cx="2947125" cy="200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8400000" dist="209550">
              <a:srgbClr val="D9D9D9">
                <a:alpha val="8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114100" y="93800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Arquitectura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1" name="Google Shape;121;p8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8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2283617">
            <a:off x="2800844" y="-683245"/>
            <a:ext cx="4346855" cy="652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025" y="934625"/>
            <a:ext cx="6935925" cy="420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2283617">
            <a:off x="2800844" y="-683245"/>
            <a:ext cx="4346855" cy="6520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Diagrama&#10;&#10;El contenido generado por IA puede ser incorrecto." id="130" name="Google Shape;1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538" y="740578"/>
            <a:ext cx="7234925" cy="42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 txBox="1"/>
          <p:nvPr/>
        </p:nvSpPr>
        <p:spPr>
          <a:xfrm>
            <a:off x="114100" y="190125"/>
            <a:ext cx="22704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Base de Datos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/>
        </p:nvSpPr>
        <p:spPr>
          <a:xfrm>
            <a:off x="114100" y="19012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Costos Aproximados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7" name="Google Shape;137;p13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/>
          <p:nvPr/>
        </p:nvSpPr>
        <p:spPr>
          <a:xfrm>
            <a:off x="280029" y="1130452"/>
            <a:ext cx="85839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En esta sección veremos cómo abordar los costos del proyecto desde RRHH hasta la implementación y posterior retorno donde los montos son aproximados.</a:t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7843720" y="2855667"/>
            <a:ext cx="136498" cy="6943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870066">
            <a:off x="3317961" y="-112645"/>
            <a:ext cx="5403878" cy="50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613001" y="2855675"/>
            <a:ext cx="23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Resumen global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9700" y="1649277"/>
            <a:ext cx="6027626" cy="3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/>
        </p:nvSpPr>
        <p:spPr>
          <a:xfrm>
            <a:off x="114100" y="19012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Modelo de Negocio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8" name="Google Shape;148;p14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7843720" y="2855667"/>
            <a:ext cx="136498" cy="6943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870066">
            <a:off x="3317961" y="-112645"/>
            <a:ext cx="5403878" cy="50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/>
        </p:nvSpPr>
        <p:spPr>
          <a:xfrm>
            <a:off x="268975" y="1045175"/>
            <a:ext cx="850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El precio fijado es $500.000 CLP por colegio al año, un valor competitivo dentro del mercado educativo y lo suficientemente accesible para facilitar la adopción temprana lo cual significa un pago mensual de $41.670 CLP.</a:t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7500" y="1782913"/>
            <a:ext cx="516255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47ea3158a_0_0"/>
          <p:cNvSpPr txBox="1"/>
          <p:nvPr/>
        </p:nvSpPr>
        <p:spPr>
          <a:xfrm>
            <a:off x="114100" y="19012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Van y TIR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8" name="Google Shape;158;g3947ea3158a_0_0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947ea3158a_0_0"/>
          <p:cNvSpPr/>
          <p:nvPr/>
        </p:nvSpPr>
        <p:spPr>
          <a:xfrm>
            <a:off x="7843720" y="2855667"/>
            <a:ext cx="1365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947ea3158a_0_0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870066">
            <a:off x="3317961" y="-112645"/>
            <a:ext cx="5403878" cy="50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947ea3158a_0_0"/>
          <p:cNvSpPr txBox="1"/>
          <p:nvPr/>
        </p:nvSpPr>
        <p:spPr>
          <a:xfrm>
            <a:off x="268975" y="1045175"/>
            <a:ext cx="850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Se establece una Tasa de Descuento (i) del 10%, utilizada como tasa de corte, que representa el costo de oportunidad del capital y es la referencia para el cálculo del VAN</a:t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2" name="Google Shape;162;g3947ea3158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600" y="2077763"/>
            <a:ext cx="6677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dc77e481_0_14"/>
          <p:cNvSpPr txBox="1"/>
          <p:nvPr/>
        </p:nvSpPr>
        <p:spPr>
          <a:xfrm>
            <a:off x="114100" y="19012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Flujo de Caja y Rentabilidad</a:t>
            </a:r>
            <a:endParaRPr b="1" i="0" sz="2000" u="none" cap="none" strike="noStrike">
              <a:solidFill>
                <a:srgbClr val="073763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Van y TIR 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g385dc77e481_0_14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85dc77e481_0_14"/>
          <p:cNvSpPr/>
          <p:nvPr/>
        </p:nvSpPr>
        <p:spPr>
          <a:xfrm>
            <a:off x="7843720" y="2855667"/>
            <a:ext cx="1365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85dc77e481_0_14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870066">
            <a:off x="3317961" y="-112645"/>
            <a:ext cx="5403878" cy="50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85dc77e481_0_14"/>
          <p:cNvSpPr txBox="1"/>
          <p:nvPr/>
        </p:nvSpPr>
        <p:spPr>
          <a:xfrm>
            <a:off x="268975" y="1045175"/>
            <a:ext cx="850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e establece una Tasa de Descuento (i) del 10%, utilizada como tasa de corte, que representa el costo de oportunidad del capital y es la referencia para el cálculo del VAN</a:t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" name="Google Shape;172;g385dc77e481_0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450" y="1652150"/>
            <a:ext cx="6843110" cy="32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5dc77e481_0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8750" y="1588125"/>
            <a:ext cx="7322750" cy="23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5dc77e481_0_24"/>
          <p:cNvSpPr txBox="1"/>
          <p:nvPr/>
        </p:nvSpPr>
        <p:spPr>
          <a:xfrm>
            <a:off x="114100" y="19012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Flujo de Caja y Rentabilidad</a:t>
            </a:r>
            <a:endParaRPr b="1" i="0" sz="2000" u="none" cap="none" strike="noStrike">
              <a:solidFill>
                <a:srgbClr val="073763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Van y TIR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9" name="Google Shape;179;g385dc77e481_0_24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85dc77e481_0_24"/>
          <p:cNvSpPr/>
          <p:nvPr/>
        </p:nvSpPr>
        <p:spPr>
          <a:xfrm>
            <a:off x="7843720" y="2855667"/>
            <a:ext cx="1365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85dc77e481_0_24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870066">
            <a:off x="3317961" y="-112645"/>
            <a:ext cx="5403878" cy="50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85dc77e481_0_24"/>
          <p:cNvSpPr txBox="1"/>
          <p:nvPr/>
        </p:nvSpPr>
        <p:spPr>
          <a:xfrm>
            <a:off x="268975" y="1375950"/>
            <a:ext cx="325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e establece una Tasa de Descuento (i) del 10%, utilizada como tasa de corte, que representa el costo de oportunidad del capital y es la referencia para el cálculo del VAN</a:t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3" name="Google Shape;183;g385dc77e481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5100" y="844075"/>
            <a:ext cx="4829300" cy="50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85dc77e481_0_24"/>
          <p:cNvSpPr txBox="1"/>
          <p:nvPr/>
        </p:nvSpPr>
        <p:spPr>
          <a:xfrm>
            <a:off x="394675" y="331695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Noto Sans Symbols"/>
              <a:buChar char="✔"/>
            </a:pPr>
            <a:r>
              <a:rPr b="0" i="0" lang="es-CL" sz="12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El</a:t>
            </a: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Valor Actual Neto (VAN) del proyecto es de $11.678.600 CLP. Dado que el VAN es positivo (VAN&gt;0), el proyecto es financieramente viable y crea valor para el inversionista.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31ba89ec_0_60"/>
          <p:cNvSpPr txBox="1"/>
          <p:nvPr/>
        </p:nvSpPr>
        <p:spPr>
          <a:xfrm>
            <a:off x="0" y="255250"/>
            <a:ext cx="527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Presentación</a:t>
            </a:r>
            <a:r>
              <a:rPr b="1" i="0" lang="es-CL" sz="2000" u="none" cap="none" strike="noStrike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 de la </a:t>
            </a:r>
            <a:r>
              <a:rPr b="1" lang="es-CL" sz="20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aplicación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0" name="Google Shape;190;g3a231ba89ec_0_60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4588" y="158917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a231ba89ec_0_60"/>
          <p:cNvSpPr txBox="1"/>
          <p:nvPr/>
        </p:nvSpPr>
        <p:spPr>
          <a:xfrm>
            <a:off x="2175601" y="4589400"/>
            <a:ext cx="466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URL: </a:t>
            </a:r>
            <a:r>
              <a:rPr lang="es-CL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micolegio-ejajcpcab8apg8dt.eastus2-01.azurewebsites.net</a:t>
            </a:r>
            <a:endParaRPr sz="1200" u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a231ba89ec_0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397" y="1100109"/>
            <a:ext cx="7755213" cy="34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/>
        </p:nvSpPr>
        <p:spPr>
          <a:xfrm>
            <a:off x="1193275" y="538050"/>
            <a:ext cx="65760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sng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Conclusiones y cumplimiento de objetivos </a:t>
            </a:r>
            <a:endParaRPr b="1" i="0" sz="2000" u="sng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8" name="Google Shape;198;p15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/>
          <p:nvPr/>
        </p:nvSpPr>
        <p:spPr>
          <a:xfrm>
            <a:off x="852625" y="1669100"/>
            <a:ext cx="72573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Desarrollar una solución para resolver el problema de las personas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852625" y="2741125"/>
            <a:ext cx="72573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Usar Tecnología y prácticas vanguardistas 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852625" y="3813150"/>
            <a:ext cx="71028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Verdana"/>
              <a:buChar char="●"/>
            </a:pPr>
            <a:r>
              <a:rPr b="1" lang="es-CL" sz="18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Responder las grandes preguntas de la ingeniería </a:t>
            </a:r>
            <a:endParaRPr b="1" sz="18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231ba89ec_0_114"/>
          <p:cNvSpPr txBox="1"/>
          <p:nvPr/>
        </p:nvSpPr>
        <p:spPr>
          <a:xfrm>
            <a:off x="2025300" y="2093250"/>
            <a:ext cx="59244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4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¡Muchas Gracias!</a:t>
            </a:r>
            <a:endParaRPr b="1" i="0" sz="4000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7" name="Google Shape;207;g3a231ba89ec_0_114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96c58555c_0_0"/>
          <p:cNvSpPr txBox="1"/>
          <p:nvPr/>
        </p:nvSpPr>
        <p:spPr>
          <a:xfrm>
            <a:off x="434775" y="183575"/>
            <a:ext cx="42384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2000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Documentación del proyecto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3" name="Google Shape;213;g3a96c58555c_0_0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a96c58555c_0_0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500121">
            <a:off x="3596219" y="680402"/>
            <a:ext cx="5766053" cy="378269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a96c58555c_0_0"/>
          <p:cNvSpPr txBox="1"/>
          <p:nvPr/>
        </p:nvSpPr>
        <p:spPr>
          <a:xfrm>
            <a:off x="548675" y="1071125"/>
            <a:ext cx="66900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5"/>
              </a:rPr>
              <a:t>Planilla_de_Requerimientos_Mi_Colegio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6"/>
              </a:rPr>
              <a:t>Matriz_RACI_Mi_Colegio</a:t>
            </a:r>
            <a:endParaRPr b="1" sz="21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7"/>
              </a:rPr>
              <a:t>Historias de usuario App Mi 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8"/>
              </a:rPr>
              <a:t>Documento_de_análisis_Mi_Colegi</a:t>
            </a: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9"/>
              </a:rPr>
              <a:t>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0"/>
              </a:rPr>
              <a:t>Documento_de_alcance_Mi_Colegio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1"/>
              </a:rPr>
              <a:t>Carta_Gantt_Proyecto_APT_Mi_Colegio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2"/>
              </a:rPr>
              <a:t>Análisis de Costos Mi 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3"/>
              </a:rPr>
              <a:t>Acta_Minuta_Kickoff_Mi_Colegio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4"/>
              </a:rPr>
              <a:t>Acta_de_constitución_Mi_Colegio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5"/>
              </a:rPr>
              <a:t>Plan de pruebas Asignar </a:t>
            </a: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6"/>
              </a:rPr>
              <a:t>Útiles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7"/>
              </a:rPr>
              <a:t>Evidencias casos de uso Asignar útiles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8"/>
              </a:rPr>
              <a:t>Gestión en Jira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CL" sz="1700" u="sng">
                <a:solidFill>
                  <a:schemeClr val="hlink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19"/>
              </a:rPr>
              <a:t>GitHub proyecto</a:t>
            </a:r>
            <a:endParaRPr b="1" sz="17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200">
              <a:solidFill>
                <a:srgbClr val="07376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/>
        </p:nvSpPr>
        <p:spPr>
          <a:xfrm>
            <a:off x="114100" y="-85775"/>
            <a:ext cx="59058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Metodología de trabajo para el proyecto APT.</a:t>
            </a:r>
            <a:endParaRPr b="1" i="0" sz="2000" u="none" cap="none" strike="noStrike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1" name="Google Shape;221;p6" title="downloa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75" y="93800"/>
            <a:ext cx="3195525" cy="7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 rot="1500121">
            <a:off x="3596219" y="680402"/>
            <a:ext cx="5766053" cy="3782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El contenido generado por IA puede ser incorrecto." id="223" name="Google Shape;2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535" y="1674402"/>
            <a:ext cx="4615552" cy="2290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Sitio web&#10;&#10;El contenido generado por IA puede ser incorrecto." id="224" name="Google Shape;2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44092" y="1668772"/>
            <a:ext cx="4285808" cy="309060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/>
          <p:nvPr/>
        </p:nvSpPr>
        <p:spPr>
          <a:xfrm>
            <a:off x="114100" y="1083997"/>
            <a:ext cx="33636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Descripción y criterios de aceptación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Alumno</dc:creator>
</cp:coreProperties>
</file>